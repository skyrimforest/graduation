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A87D"/>
                </a:solidFill>
                <a:latin typeface="Microsoft YaHei"/>
              </a:rPr>
              <a:t>阶段汇报 · 2026-08-26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闭环 FJSP–MAPF 中的算子组合切换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C9D6E6"/>
                </a:solidFill>
                <a:latin typeface="Microsoft YaHei"/>
              </a:rPr>
              <a:t>限时搜索 · 成本感知决策 · 真值获取与因果分析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4160520"/>
            <a:ext cx="2240280" cy="0"/>
          </a:xfrm>
          <a:prstGeom prst="line">
            <a:avLst/>
          </a:prstGeom>
          <a:ln w="31750">
            <a:solidFill>
              <a:srgbClr val="C056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4434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C9D6E6"/>
                </a:solidFill>
                <a:latin typeface="Microsoft YaHei"/>
              </a:rPr>
              <a:t>SkyCausal · 论文 v4 主线（已与新口径对齐，16 页编译通过）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FA3BC"/>
                </a:solidFill>
                <a:latin typeface="Microsoft YaHei"/>
              </a:rPr>
              <a:t>依据：总体设计精简版 / 预算受限候选竞赛 / golden trace 预注册 / 切换因果分析三层设计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5621"/>
                </a:solidFill>
                <a:latin typeface="Microsoft YaHe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C05621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18488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Microsoft YaHei"/>
              </a:rPr>
              <a:t>问题与证据基线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84248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F6368"/>
                </a:solidFill>
                <a:latin typeface="Microsoft YaHei"/>
              </a:rPr>
              <a:t>闭环中的反事实问题；Phase 7 负结果如何约束设计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07208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C05621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25496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Microsoft YaHei"/>
              </a:rPr>
              <a:t>主线定位与方法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91256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F6368"/>
                </a:solidFill>
                <a:latin typeface="Microsoft YaHei"/>
              </a:rPr>
              <a:t>班子不固定的元级决策；限时组合搜索 × Racing × LCB 切换；真值口径分层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14216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C05621"/>
                </a:solidFill>
                <a:latin typeface="Microsoft YaHe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032504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Microsoft YaHei"/>
              </a:rPr>
              <a:t>因果分析与评估协议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398264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F6368"/>
                </a:solidFill>
                <a:latin typeface="Microsoft YaHei"/>
              </a:rPr>
              <a:t>识别问题与估计量；配对克隆反事实三层设计；双口径记账与 OPE 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21224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C05621"/>
                </a:solidFill>
                <a:latin typeface="Microsoft YaHe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39512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Microsoft YaHei"/>
              </a:rPr>
              <a:t>计划 · 实验 · 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605272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F6368"/>
                </a:solidFill>
                <a:latin typeface="Microsoft YaHei"/>
              </a:rPr>
              <a:t>T0–T5 里程碑与工作量盘点；E1–E4 实验矩阵；诚实边界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5621"/>
                </a:solidFill>
                <a:latin typeface="Microsoft YaHei"/>
              </a:rPr>
              <a:t>01 · 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切换值不值，只能靠「同状态试一遍」回答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1206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2303E"/>
                </a:solidFill>
                <a:latin typeface="Microsoft YaHei"/>
              </a:rPr>
              <a:t>闭环 FJSP–MAPF：调度产生运输需求，拥堵与故障又反过来约束调度。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每个决策点都在问一个反事实问题：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2303E"/>
                </a:solidFill>
                <a:latin typeface="Microsoft YaHei"/>
              </a:rPr>
              <a:t>此刻换掉正在用的求解器组合，剩余 episode 的终局代价会更低吗？低多少？足以支付切换成本吗？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5120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5F6368"/>
                </a:solidFill>
                <a:latin typeface="Microsoft YaHei"/>
              </a:rPr>
              <a:t>离线基准答不了：候选求解器的内部目标 ≠ 闭环终局代价；物理时钟在评估期间持续推进。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C05621"/>
                </a:solidFill>
                <a:latin typeface="Microsoft YaHei"/>
              </a:rPr>
              <a:t>→ 只能冻结状态、在隔离分支上执行候选、比较删失口径下的代价。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651760"/>
            <a:ext cx="1737360" cy="77724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761488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决策点 s̃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6858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17373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</a:rPr>
              <a:t>KEEP 当前组合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794760"/>
            <a:ext cx="2651760" cy="6858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39319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05621"/>
                </a:solidFill>
                <a:latin typeface="Microsoft YaHei"/>
              </a:rPr>
              <a:t>SWITCH 候选 a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229600" y="1965960"/>
            <a:ext cx="822960" cy="914400"/>
          </a:xfrm>
          <a:prstGeom prst="line">
            <a:avLst/>
          </a:prstGeom>
          <a:ln w="19050">
            <a:solidFill>
              <a:srgbClr val="1F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" y="3200400"/>
            <a:ext cx="822960" cy="914400"/>
          </a:xfrm>
          <a:prstGeom prst="line">
            <a:avLst/>
          </a:prstGeom>
          <a:ln w="19050">
            <a:solidFill>
              <a:srgbClr val="C056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704320" y="1965960"/>
            <a:ext cx="0" cy="2057400"/>
          </a:xfrm>
          <a:prstGeom prst="line">
            <a:avLst/>
          </a:prstGeom>
          <a:ln w="12700">
            <a:solidFill>
              <a:srgbClr val="5F63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0" y="4709160"/>
            <a:ext cx="3566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F6368"/>
                </a:solidFill>
                <a:latin typeface="Microsoft YaHei"/>
              </a:rPr>
              <a:t>终局代价 J 对比 → Δ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Microsoft YaHei"/>
              </a:rPr>
              <a:t>G = Δ − λ·C_switch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5621"/>
                </a:solidFill>
                <a:latin typeface="Microsoft YaHei"/>
              </a:rPr>
              <a:t>LCB(G) &gt; τ 才切换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5621"/>
                </a:solidFill>
                <a:latin typeface="Microsoft YaHei"/>
              </a:rPr>
              <a:t>01 · 证据基线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Phase 7：元级周期深控被证伪（936 配对 episodes）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78638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371600"/>
                <a:gridCol w="2011680"/>
                <a:gridCol w="182880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比较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均值差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95% CI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3E"/>
                          </a:solidFill>
                          <a:latin typeface="Microsoft YaHei"/>
                        </a:rPr>
                        <a:t>周期深搜 vs 一次浅搜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3E"/>
                          </a:solidFill>
                          <a:latin typeface="Microsoft YaHei"/>
                        </a:rPr>
                        <a:t>+16.85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3E"/>
                          </a:solidFill>
                          <a:latin typeface="Microsoft YaHei"/>
                        </a:rPr>
                        <a:t>[11.81, 22.42]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392B"/>
                          </a:solidFill>
                          <a:latin typeface="Microsoft YaHei"/>
                        </a:rPr>
                        <a:t>显著更差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3E"/>
                          </a:solidFill>
                          <a:latin typeface="Microsoft YaHei"/>
                        </a:rPr>
                        <a:t>周期深搜 vs 静态映射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3E"/>
                          </a:solidFill>
                          <a:latin typeface="Microsoft YaHei"/>
                        </a:rPr>
                        <a:t>+19.25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3E"/>
                          </a:solidFill>
                          <a:latin typeface="Microsoft YaHei"/>
                        </a:rPr>
                        <a:t>[14.57, 24.65]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392B"/>
                          </a:solidFill>
                          <a:latin typeface="Microsoft YaHei"/>
                        </a:rPr>
                        <a:t>显著更差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3E"/>
                          </a:solidFill>
                          <a:latin typeface="Microsoft YaHei"/>
                        </a:rPr>
                        <a:t>Depth-2 vs Depth-1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3E"/>
                          </a:solidFill>
                          <a:latin typeface="Microsoft YaHei"/>
                        </a:rPr>
                        <a:t>+4.01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3E"/>
                          </a:solidFill>
                          <a:latin typeface="Microsoft YaHei"/>
                        </a:rPr>
                        <a:t>[0.96, 8.03]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303E"/>
                          </a:solidFill>
                          <a:latin typeface="Microsoft YaHei"/>
                        </a:rPr>
                        <a:t>无一改善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3E"/>
                          </a:solidFill>
                          <a:latin typeface="Microsoft YaHei"/>
                        </a:rPr>
                        <a:t>MCTS vs Uniform 分配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3E"/>
                          </a:solidFill>
                          <a:latin typeface="Microsoft YaHei"/>
                        </a:rPr>
                        <a:t>+4.85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3E"/>
                          </a:solidFill>
                          <a:latin typeface="Microsoft YaHei"/>
                        </a:rPr>
                        <a:t>[1.21, 9.56]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392B"/>
                          </a:solidFill>
                          <a:latin typeface="Microsoft YaHei"/>
                        </a:rPr>
                        <a:t>显著更差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3E"/>
                          </a:solidFill>
                          <a:latin typeface="Microsoft YaHei"/>
                        </a:rPr>
                        <a:t>温 keep vs 冷重选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3E"/>
                          </a:solidFill>
                          <a:latin typeface="Microsoft YaHei"/>
                        </a:rPr>
                        <a:t>−1050.5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3E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652D"/>
                          </a:solidFill>
                          <a:latin typeface="Microsoft YaHei"/>
                        </a:rPr>
                        <a:t>强支持连续性（72/72 vs 18/72）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0" y="1554480"/>
            <a:ext cx="30175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怎么读这张表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22303E"/>
                </a:solidFill>
                <a:latin typeface="Microsoft YaHei"/>
              </a:rPr>
              <a:t>深与频繁都错；树分配无效；runtime continuity 是唯一强支持机制。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C05621"/>
                </a:solidFill>
                <a:latin typeface="Microsoft YaHei"/>
              </a:rPr>
              <a:t>被证伪的是「周期性深度控制」形态，不是元级空间本身——决策点一次浅搜恰是被证据支持的形态。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</a:rPr>
              <a:t>推论：正确的搜索形态是浅、宽、预算受限的候选竞赛——这就是下一节方法的直接依据。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6368"/>
                </a:solidFill>
                <a:latin typeface="Microsoft YaHei"/>
              </a:rPr>
              <a:t>数据来源：Phase 7 paper-grade 冻结评估（论文 v4 表 1）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5621"/>
                </a:solidFill>
                <a:latin typeface="Microsoft YaHei"/>
              </a:rPr>
              <a:t>02 · 主线定位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主线定调：班子不固定的元级决策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27632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3A5F"/>
                </a:solidFill>
                <a:latin typeface="Microsoft YaHei"/>
              </a:rPr>
              <a:t>算子组合不由人定、不靠离线预计算——由决策点上的限时闭环 MCTS 在组合空间在线构造，经统一 horizon 的竞赛评估，净收益 LCB(G) &gt; τ 才切换，切换显式计价。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</a:rPr>
              <a:t>与被证伪形态的四点区别（硬约束，违反即重蹈覆辙）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204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65760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</a:rPr>
              <a:t>① 决策点触发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23360"/>
            <a:ext cx="2331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368"/>
                </a:solidFill>
                <a:latin typeface="Microsoft YaHei"/>
              </a:rPr>
              <a:t>事件/状态驱动</a:t>
            </a:r>
            <a:br/>
            <a:r>
              <a:rPr sz="1200" b="0">
                <a:solidFill>
                  <a:srgbClr val="5F6368"/>
                </a:solidFill>
                <a:latin typeface="Microsoft YaHei"/>
              </a:rPr>
              <a:t>不是周期性重搜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5204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365760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</a:rPr>
              <a:t>② anytime 语义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4023360"/>
            <a:ext cx="2331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368"/>
                </a:solidFill>
                <a:latin typeface="Microsoft YaHei"/>
              </a:rPr>
              <a:t>预算即停·浅层优先</a:t>
            </a:r>
            <a:br/>
            <a:r>
              <a:rPr sz="1200" b="0">
                <a:solidFill>
                  <a:srgbClr val="5F6368"/>
                </a:solidFill>
                <a:latin typeface="Microsoft YaHei"/>
              </a:rPr>
              <a:t>输出最优+置信状态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204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65760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</a:rPr>
              <a:t>③ 温接 incumbent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2331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368"/>
                </a:solidFill>
                <a:latin typeface="Microsoft YaHei"/>
              </a:rPr>
              <a:t>runtime continuity</a:t>
            </a:r>
            <a:br/>
            <a:r>
              <a:rPr sz="1200" b="0">
                <a:solidFill>
                  <a:srgbClr val="5F6368"/>
                </a:solidFill>
                <a:latin typeface="Microsoft YaHei"/>
              </a:rPr>
              <a:t>Phase 7 唯一强支持机制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35204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365760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</a:rPr>
              <a:t>④ 竞赛评估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4023360"/>
            <a:ext cx="2331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368"/>
                </a:solidFill>
                <a:latin typeface="Microsoft YaHei"/>
              </a:rPr>
              <a:t>树只在候选×Tape</a:t>
            </a:r>
            <a:br/>
            <a:r>
              <a:rPr sz="1200" b="0">
                <a:solidFill>
                  <a:srgbClr val="5F6368"/>
                </a:solidFill>
                <a:latin typeface="Microsoft YaHei"/>
              </a:rPr>
              <a:t>评估结构里，不深树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</a:rPr>
              <a:t>对比基线：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303E"/>
                </a:solidFill>
                <a:latin typeface="Microsoft YaHei"/>
              </a:rPr>
              <a:t>① 固定组合（全程不换）  ② 离线预计算静态映射  ③ 一次浅搜（及格线——打不过它就如实报告）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5621"/>
                </a:solidFill>
                <a:latin typeface="Microsoft YaHei"/>
              </a:rPr>
              <a:t>02 · 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在线管线：搜索提议与评估，规则拍板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11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93852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05621"/>
                </a:solidFill>
                <a:latin typeface="Microsoft YaHei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331720"/>
            <a:ext cx="17922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</a:rPr>
              <a:t>决策状态 s̃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743200"/>
            <a:ext cx="17922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F6368"/>
                </a:solidFill>
                <a:latin typeface="Microsoft YaHei"/>
              </a:rPr>
              <a:t>工厂物理 + 求解器上下文</a:t>
            </a:r>
            <a:br/>
            <a:r>
              <a:rPr sz="1150" b="0">
                <a:solidFill>
                  <a:srgbClr val="5F6368"/>
                </a:solidFill>
                <a:latin typeface="Microsoft YaHei"/>
              </a:rPr>
              <a:t>+ 近期动态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2788920"/>
            <a:ext cx="228600" cy="0"/>
          </a:xfrm>
          <a:prstGeom prst="line">
            <a:avLst/>
          </a:prstGeom>
          <a:ln w="19050">
            <a:solidFill>
              <a:srgbClr val="1F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828800"/>
            <a:ext cx="2011680" cy="196596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193852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A87D"/>
                </a:solidFill>
                <a:latin typeface="Microsoft YaHei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331720"/>
            <a:ext cx="17922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Microsoft YaHei"/>
              </a:rPr>
              <a:t>限时组合搜索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743200"/>
            <a:ext cx="17922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C9D6E6"/>
                </a:solidFill>
                <a:latin typeface="Microsoft YaHei"/>
              </a:rPr>
              <a:t>V0：冻结 15 配方池</a:t>
            </a:r>
            <a:br/>
            <a:r>
              <a:rPr sz="1150" b="0">
                <a:solidFill>
                  <a:srgbClr val="C9D6E6"/>
                </a:solidFill>
                <a:latin typeface="Microsoft YaHei"/>
              </a:rPr>
              <a:t>V1：组合文法开放构造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80" y="2788920"/>
            <a:ext cx="228600" cy="0"/>
          </a:xfrm>
          <a:prstGeom prst="line">
            <a:avLst/>
          </a:prstGeom>
          <a:ln w="19050">
            <a:solidFill>
              <a:srgbClr val="1F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83480" y="1828800"/>
            <a:ext cx="2011680" cy="196596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8" y="193852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A87D"/>
                </a:solidFill>
                <a:latin typeface="Microsoft YaHei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2331720"/>
            <a:ext cx="17922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Microsoft YaHei"/>
              </a:rPr>
              <a:t>Racing 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2743200"/>
            <a:ext cx="17922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C9D6E6"/>
                </a:solidFill>
                <a:latin typeface="Microsoft YaHei"/>
              </a:rPr>
              <a:t>统一 horizon · 同 Tape</a:t>
            </a:r>
            <a:br/>
            <a:r>
              <a:rPr sz="1150" b="0">
                <a:solidFill>
                  <a:srgbClr val="C9D6E6"/>
                </a:solidFill>
                <a:latin typeface="Microsoft YaHei"/>
              </a:rPr>
              <a:t>逐轮淘汰 · 温续跑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95160" y="2788920"/>
            <a:ext cx="228600" cy="0"/>
          </a:xfrm>
          <a:prstGeom prst="line">
            <a:avLst/>
          </a:prstGeom>
          <a:ln w="19050">
            <a:solidFill>
              <a:srgbClr val="1F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23760" y="1828800"/>
            <a:ext cx="2011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193852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05621"/>
                </a:solidFill>
                <a:latin typeface="Microsoft YaHei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331720"/>
            <a:ext cx="17922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</a:rPr>
              <a:t>LCB(G) &gt; τ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2743200"/>
            <a:ext cx="17922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F6368"/>
                </a:solidFill>
                <a:latin typeface="Microsoft YaHei"/>
              </a:rPr>
              <a:t>G = Δ − λ·C_switch</a:t>
            </a:r>
            <a:br/>
            <a:r>
              <a:rPr sz="1150" b="0">
                <a:solidFill>
                  <a:srgbClr val="5F6368"/>
                </a:solidFill>
                <a:latin typeface="Microsoft YaHei"/>
              </a:rPr>
              <a:t>迟滞/冷却防抖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35440" y="2788920"/>
            <a:ext cx="228600" cy="0"/>
          </a:xfrm>
          <a:prstGeom prst="line">
            <a:avLst/>
          </a:prstGeom>
          <a:ln w="19050">
            <a:solidFill>
              <a:srgbClr val="1F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464040" y="1828800"/>
            <a:ext cx="2011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73768" y="193852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05621"/>
                </a:solidFill>
                <a:latin typeface="Microsoft YaHei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3768" y="2331720"/>
            <a:ext cx="17922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</a:rPr>
              <a:t>闭环收尾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8" y="2743200"/>
            <a:ext cx="17922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F6368"/>
                </a:solidFill>
                <a:latin typeface="Microsoft YaHei"/>
              </a:rPr>
              <a:t>执行切换或保持</a:t>
            </a:r>
            <a:br/>
            <a:r>
              <a:rPr sz="1150" b="0">
                <a:solidFill>
                  <a:srgbClr val="5F6368"/>
                </a:solidFill>
                <a:latin typeface="Microsoft YaHei"/>
              </a:rPr>
              <a:t>episode 配对统计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343400"/>
            <a:ext cx="1115568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5262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角色分工（回应「标注器 vs 控制器」）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303E"/>
                </a:solidFill>
                <a:latin typeface="Microsoft YaHei"/>
              </a:rPr>
              <a:t>搜索负责提出与评估候选；控制器是成本感知决策规则——搜索不直接拍板。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05621"/>
                </a:solidFill>
                <a:latin typeface="Microsoft YaHei"/>
              </a:rPr>
              <a:t>已登记缺口：Racing 当前仅排序、未显式计价 C_switch，T1 成本表接入后 G 才完整（T3 前补上）。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5621"/>
                </a:solidFill>
                <a:latin typeface="Microsoft YaHei"/>
              </a:rPr>
              <a:t>02 · 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Racing：候选竞赛评估器（已实现 · 102 项测试套件内）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2120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机制要点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2303E"/>
                </a:solidFill>
                <a:latin typeface="Microsoft YaHei"/>
              </a:rPr>
              <a:t>统一 horizon 铁律：同一轮所有候选跑一样远、用同一批 Tape——预算绝不制造 per-candidate 偏差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2303E"/>
                </a:solidFill>
                <a:latin typeface="Microsoft YaHei"/>
              </a:rPr>
              <a:t>温续跑：旧分支从上次子状态增量推进 O(ΔH)，保持 runtime continuity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2303E"/>
                </a:solidFill>
                <a:latin typeface="Microsoft YaHei"/>
              </a:rPr>
              <a:t>逐轮淘汰：总成本几何级数收敛于首轮全宽成本，省一个量级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2303E"/>
                </a:solidFill>
                <a:latin typeface="Microsoft YaHei"/>
              </a:rPr>
              <a:t>三态诚实记录：终局 / 删失 / 求解器错误分开统计，删失罚值不冒充真值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27632"/>
            <a:ext cx="49377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穷举退化（命题）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22303E"/>
                </a:solidFill>
                <a:latin typeface="Microsoft YaHei"/>
              </a:rPr>
              <a:t>不淘汰 + 全 Tape + 跑到终局 ⇒ 退化为完全枚举，输出冻结候选×Tape 集上的精确 Q̂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C05621"/>
                </a:solidFill>
                <a:latin typeface="Microsoft YaHei"/>
              </a:rPr>
              <a:t>anytime 性质：淘汰只删统计上被支配的候选，保留最优的概率不减——预算耗尽时输出当前置信与删失状态，不伪造精度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</a:rPr>
              <a:t>实跑示例（tiny 闭环场面，Docker 编排，宿主机/容器逐字节一致）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5212080"/>
          <a:ext cx="585216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3886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轮次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H=20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H=60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H=120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303E"/>
                          </a:solidFill>
                          <a:latin typeface="Microsoft YaHei"/>
                        </a:rPr>
                        <a:t>存活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303E"/>
                          </a:solidFill>
                          <a:latin typeface="Microsoft YaHei"/>
                        </a:rPr>
                        <a:t>8→4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303E"/>
                          </a:solidFill>
                          <a:latin typeface="Microsoft YaHei"/>
                        </a:rPr>
                        <a:t>4→3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303E"/>
                          </a:solidFill>
                          <a:latin typeface="Microsoft YaHei"/>
                        </a:rPr>
                        <a:t>3→2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521208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368"/>
                </a:solidFill>
                <a:latin typeface="Microsoft YaHei"/>
              </a:rPr>
              <a:t>keep 以 76.5 被 adaptive 的 73.5 淘汰；top-3 = 72 / 72 / 73；全程 50 次转移、约 11 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5621"/>
                </a:solidFill>
                <a:latin typeface="Microsoft YaHei"/>
              </a:rPr>
              <a:t>02 · 真值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真值口径分层：一台主力 + 一台验证器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36776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主力 · golden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636776"/>
            <a:ext cx="7406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每 spec K=8 条随机闭环轨迹，取终局最优作参考值（72 spec）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67128"/>
            <a:ext cx="7406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D6E6"/>
                </a:solidFill>
                <a:latin typeface="Microsoft YaHei"/>
              </a:rPr>
              <a:t>语义边界：K 内最优 ≠ 全局最优；称「参考值」，不冒充穷举真值或公平基线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36392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6440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验证器 · Racing 穷举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264408"/>
            <a:ext cx="7406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F3A5F"/>
                </a:solidFill>
                <a:latin typeface="Microsoft YaHei"/>
              </a:rPr>
              <a:t>冻结候选 × 冻结 Tape 集上的精确 Q̂（穷举退化命题）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794760"/>
            <a:ext cx="7406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368"/>
                </a:solidFill>
                <a:latin typeface="Microsoft YaHei"/>
              </a:rPr>
              <a:t>服务 fixed 组合基线确认 + 小子集上限时排序的一致性校验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64024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920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F6368"/>
                </a:solidFill>
                <a:latin typeface="Microsoft YaHei"/>
              </a:rPr>
              <a:t>future · oracle 标签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892040"/>
            <a:ext cx="7406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5F6368"/>
                </a:solidFill>
                <a:latin typeface="Microsoft YaHei"/>
              </a:rPr>
              <a:t>逐决策点 Δ/G 反事实重算 + 预测器训练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422392"/>
            <a:ext cx="7406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368"/>
                </a:solidFill>
                <a:latin typeface="Microsoft YaHei"/>
              </a:rPr>
              <a:t>已移出本文范围——在线值由 Racing 估计 + 成本表计价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05621"/>
                </a:solidFill>
                <a:latin typeface="Microsoft YaHei"/>
              </a:rPr>
              <a:t>三种口径并存——任何场合混用即构成过度声明（风险清单第 2 条）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5621"/>
                </a:solidFill>
                <a:latin typeface="Microsoft YaHei"/>
              </a:rPr>
              <a:t>03 · 因果分析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因果分析 I：先问「效应」到底是什么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观测性前后对比的三重隐患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22303E"/>
                </a:solidFill>
                <a:latin typeface="Microsoft YaHei"/>
              </a:rPr>
              <a:t>选择偏差：自适应系统只在自认为有利时才换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22303E"/>
                </a:solidFill>
                <a:latin typeface="Microsoft YaHei"/>
              </a:rPr>
              <a:t>时间趋势：指标本来就在变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22303E"/>
                </a:solidFill>
                <a:latin typeface="Microsoft YaHei"/>
              </a:rPr>
              <a:t>均值回归：往往指标很差才触发切换，之后自然回弹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C05621"/>
                </a:solidFill>
                <a:latin typeface="Microsoft YaHei"/>
              </a:rPr>
              <a:t>→ 自适应日志的事件研究只能描述，不能下因果结论。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94960" cy="29260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27632"/>
            <a:ext cx="48463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估计量先行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2303E"/>
                </a:solidFill>
                <a:latin typeface="Microsoft YaHei"/>
              </a:rPr>
              <a:t>切换的效应依赖于切换之后的后续策略 π⁺——这是随机化也消不掉的定义性问题。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C05621"/>
                </a:solidFill>
                <a:latin typeface="Microsoft YaHei"/>
              </a:rPr>
              <a:t>τ_π⁺(s̃,a) = J_π⁺(keep) − J_π⁺(a)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22303E"/>
                </a:solidFill>
                <a:latin typeface="Microsoft YaHei"/>
              </a:rPr>
              <a:t>主口径：switch-then-keep（机制最干净）；随机继续 = 与自然实验可比的桥。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我们的优势：有可克隆、可重放、确定性的仿真器。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303E"/>
                </a:solidFill>
                <a:latin typeface="Microsoft YaHei"/>
              </a:rPr>
              <a:t>无仿真器世界只能在识别假设下「估计」反事实（合成控制/事件研究类）；我们让反事实被仿真「实现」——识别假设全部短路。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5621"/>
                </a:solidFill>
                <a:latin typeface="Microsoft YaHei"/>
              </a:rPr>
              <a:t>03 · 因果分析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因果分析 II：三层识别设计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5621"/>
                </a:solidFill>
                <a:latin typeface="Microsoft YaHei"/>
              </a:rPr>
              <a:t>L2 主力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配对克隆反事实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600200"/>
            <a:ext cx="7863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D5DFEA"/>
                </a:solidFill>
                <a:latin typeface="Microsoft YaHei"/>
              </a:rPr>
              <a:t>决策根克隆 + 同一 Tape 跑 keep/switch 至终局 → 个体级配对差分。同 Tape = 公共随机数方差缩减；反事实被实现而非估计，不依赖不可检验的识别假设。分层 → CATE（何时换）；通道归因 + 消融 → 为何换。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44368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54096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</a:rPr>
              <a:t>L1 交叉验证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19856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1F3A5F"/>
                </a:solidFill>
                <a:latin typeface="Microsoft YaHei"/>
              </a:rPr>
              <a:t>随机轨迹自然实验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81528"/>
            <a:ext cx="7863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2303E"/>
                </a:solidFill>
                <a:latin typeface="Microsoft YaHei"/>
              </a:rPr>
              <a:t>round-1 切换均匀随机，天然免除选择偏差；无偏但功效有限。与 L2 识别原理不同——结论方向一致即稳健性证据。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25696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35424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F6368"/>
                </a:solidFill>
                <a:latin typeface="Microsoft YaHei"/>
              </a:rPr>
              <a:t>L0 描述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01184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5F6368"/>
                </a:solidFill>
                <a:latin typeface="Microsoft YaHei"/>
              </a:rPr>
              <a:t>自适应日志事件研究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562856"/>
            <a:ext cx="7863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368"/>
                </a:solidFill>
                <a:latin typeface="Microsoft YaHei"/>
              </a:rPr>
              <a:t>切换事件前后窗口的聚合指标轨迹；显式标注选择偏差，只作描述。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893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F3A5F"/>
                </a:solidFill>
                <a:latin typeface="Microsoft YaHei"/>
              </a:rPr>
              <a:t>诚实边界：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5989320"/>
            <a:ext cx="3108960" cy="347472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1F3A5F"/>
                </a:solidFill>
                <a:latin typeface="Microsoft YaHei"/>
              </a:rPr>
              <a:t>保真度前置门为前提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5989320"/>
            <a:ext cx="3108960" cy="347472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1F3A5F"/>
                </a:solidFill>
                <a:latin typeface="Microsoft YaHei"/>
              </a:rPr>
              <a:t>CP-SAT 非确定 → 排除或增 Tape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5989320"/>
            <a:ext cx="3108960" cy="347472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1F3A5F"/>
                </a:solidFill>
                <a:latin typeface="Microsoft YaHei"/>
              </a:rPr>
              <a:t>π⁺ 显式定义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5621"/>
                </a:solidFill>
                <a:latin typeface="Microsoft YaHei"/>
              </a:rPr>
              <a:t>03 · 评估协议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双口径记账 + 给 OPE 留门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754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双口径：质量与开销分开，不合成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22303E"/>
                </a:solidFill>
                <a:latin typeface="Microsoft YaHei"/>
              </a:rPr>
              <a:t>质量轴：makespan（整数仿真步）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22303E"/>
                </a:solidFill>
                <a:latin typeface="Microsoft YaHei"/>
              </a:rPr>
              <a:t>开销轴：决策次数 · 墙钟 · 转移调用 · 仿真步数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22303E"/>
                </a:solidFill>
                <a:latin typeface="Microsoft YaHei"/>
              </a:rPr>
              <a:t>所有方法两轴分别配对比较；λ 只是决策规则内部交换率，敏感性单独报告，不造加权合成分数。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C05621"/>
                </a:solidFill>
                <a:latin typeface="Microsoft YaHei"/>
              </a:rPr>
              <a:t>公平性声明：固定基线几乎不付搜索开销，我们的决策期计算成本全部计入开销轴。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645920"/>
            <a:ext cx="4754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OPE 接口：现在埋，未来才可用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22303E"/>
                </a:solidFill>
                <a:latin typeface="Microsoft YaHei"/>
              </a:rPr>
              <a:t>未来（含 LLM 调度）想从策略自己的日志估计「换一个策略会怎样」→ 离策略评估（OPE / doubly-robust）。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C0392B"/>
                </a:solidFill>
                <a:latin typeface="Microsoft YaHei"/>
              </a:rPr>
              <a:t>死穴：日志中每个动作的执行概率必须已知且非零——确定性策略的日志对 OPE 不可用。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C05621"/>
                </a:solidFill>
                <a:latin typeface="Microsoft YaHei"/>
              </a:rPr>
              <a:t>动作：shadow 决策注入 ε 随机化 + 记录动作概率。成本近零；不做，未来只能重跑全量实验。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</a:rPr>
              <a:t>策略级总体效应不走观测层——主实验（72 spec × 同 Tape 配对）本身就是随机对照实验。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5621"/>
                </a:solidFill>
                <a:latin typeface="Microsoft YaHei"/>
              </a:rPr>
              <a:t>04 ·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里程碑 T0–T5 与工作量盘点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148840"/>
            <a:ext cx="10789920" cy="0"/>
          </a:xfrm>
          <a:prstGeom prst="line">
            <a:avLst/>
          </a:prstGeom>
          <a:ln w="19050">
            <a:solidFill>
              <a:srgbClr val="5F63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2029968"/>
            <a:ext cx="237744" cy="23774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</a:rPr>
              <a:t>T0 保真门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957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368"/>
                </a:solidFill>
                <a:latin typeface="Microsoft YaHei"/>
              </a:rPr>
              <a:t>半天</a:t>
            </a:r>
          </a:p>
        </p:txBody>
      </p:sp>
      <p:sp>
        <p:nvSpPr>
          <p:cNvPr id="8" name="Oval 7"/>
          <p:cNvSpPr/>
          <p:nvPr/>
        </p:nvSpPr>
        <p:spPr>
          <a:xfrm>
            <a:off x="3383280" y="2029968"/>
            <a:ext cx="237744" cy="23774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4813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</a:rPr>
              <a:t>T1 组合契约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3957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368"/>
                </a:solidFill>
                <a:latin typeface="Microsoft YaHei"/>
              </a:rPr>
              <a:t>1 天</a:t>
            </a:r>
          </a:p>
        </p:txBody>
      </p:sp>
      <p:sp>
        <p:nvSpPr>
          <p:cNvPr id="11" name="Oval 10"/>
          <p:cNvSpPr/>
          <p:nvPr/>
        </p:nvSpPr>
        <p:spPr>
          <a:xfrm>
            <a:off x="5577840" y="2029968"/>
            <a:ext cx="237744" cy="23774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4813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</a:rPr>
              <a:t>T2 限时搜索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3957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368"/>
                </a:solidFill>
                <a:latin typeface="Microsoft YaHei"/>
              </a:rPr>
              <a:t>V0→V1 · 2–3 天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2029968"/>
            <a:ext cx="237744" cy="23774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4813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</a:rPr>
              <a:t>T3 LCB 切换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3957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368"/>
                </a:solidFill>
                <a:latin typeface="Microsoft YaHei"/>
              </a:rPr>
              <a:t>1 天 · shadow</a:t>
            </a:r>
          </a:p>
        </p:txBody>
      </p:sp>
      <p:sp>
        <p:nvSpPr>
          <p:cNvPr id="17" name="Oval 16"/>
          <p:cNvSpPr/>
          <p:nvPr/>
        </p:nvSpPr>
        <p:spPr>
          <a:xfrm>
            <a:off x="9966960" y="2029968"/>
            <a:ext cx="237744" cy="23774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4813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icrosoft YaHei"/>
              </a:rPr>
              <a:t>T5 闭环评估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3957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368"/>
                </a:solidFill>
                <a:latin typeface="Microsoft YaHei"/>
              </a:rPr>
              <a:t>实验矩阵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2971800"/>
            <a:ext cx="23774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D6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044952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D652D"/>
                </a:solidFill>
                <a:latin typeface="Microsoft YaHei"/>
              </a:rPr>
              <a:t>T4 golden trace round-1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F6368"/>
                </a:solidFill>
                <a:latin typeface="Microsoft YaHei"/>
              </a:rPr>
              <a:t>过 T0 即并行开跑，不等 hero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77639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工作量真相：复杂的是存量系统，不是剩余增量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8912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D652D"/>
                </a:solidFill>
                <a:latin typeface="Microsoft YaHei"/>
              </a:rPr>
              <a:t>已建成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389120"/>
            <a:ext cx="9235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03E"/>
                </a:solidFill>
                <a:latin typeface="Microsoft YaHei"/>
              </a:rPr>
              <a:t>Racing / mcts_node / uniform / trigger_policy / admission / 闭环控制器——102 项测试兜底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5604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C05621"/>
                </a:solidFill>
                <a:latin typeface="Microsoft YaHei"/>
              </a:rPr>
              <a:t>唯一新代码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956048"/>
            <a:ext cx="9235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03E"/>
                </a:solidFill>
                <a:latin typeface="Microsoft YaHei"/>
              </a:rPr>
              <a:t>V1 组合文法候选生成器（配方空间本就按维度结构化，合法性掩码已就位）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22976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F3A5F"/>
                </a:solidFill>
                <a:latin typeface="Microsoft YaHei"/>
              </a:rPr>
              <a:t>总体增量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522976"/>
            <a:ext cx="9235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03E"/>
                </a:solidFill>
                <a:latin typeface="Microsoft YaHei"/>
              </a:rPr>
              <a:t>集中做约 2 周 + 机器时间；V0 ≈ 已有 Racing + LCB，可最先跑通、先锁论文下限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5621"/>
                </a:solidFill>
                <a:latin typeface="Microsoft YaHei"/>
              </a:rPr>
              <a:t>04 · 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实验矩阵：8 张表 · 7 张图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3017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E1 主闭环对比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627632"/>
            <a:ext cx="4480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03E"/>
                </a:solidFill>
                <a:latin typeface="Microsoft YaHei"/>
              </a:rPr>
              <a:t>72 spec × {固定, 静态映射, 一次浅搜, V0, V1} 严格配对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27632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368"/>
                </a:solidFill>
                <a:latin typeface="Microsoft YaHei"/>
              </a:rPr>
              <a:t>主结果表 / 帕累托图 / V0-V1 分离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24912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98064"/>
            <a:ext cx="3017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E2 golden round-1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98064"/>
            <a:ext cx="4480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03E"/>
                </a:solidFill>
                <a:latin typeface="Microsoft YaHei"/>
              </a:rPr>
              <a:t>72 spec × K=8 随机轨迹（协议已冻结）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798064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368"/>
                </a:solidFill>
                <a:latin typeface="Microsoft YaHei"/>
              </a:rPr>
              <a:t>参考值表 / 因果自然实验面板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95344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68496"/>
            <a:ext cx="3017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E2a 配对克隆反事实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968496"/>
            <a:ext cx="4480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03E"/>
                </a:solidFill>
                <a:latin typeface="Microsoft YaHei"/>
              </a:rPr>
              <a:t>决策根 × {keep, switch} × 同 Tape → 终局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968496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368"/>
                </a:solidFill>
                <a:latin typeface="Microsoft YaHei"/>
              </a:rPr>
              <a:t>CATE 表 / 通道归因图（何时换·为何换）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65776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38928"/>
            <a:ext cx="3017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E3 敏感性 / E4 校验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138928"/>
            <a:ext cx="4480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303E"/>
                </a:solidFill>
                <a:latin typeface="Microsoft YaHei"/>
              </a:rPr>
              <a:t>λ·τ·预算网格；小子集穷举 vs 限时排序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138928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368"/>
                </a:solidFill>
                <a:latin typeface="Microsoft YaHei"/>
              </a:rPr>
              <a:t>敏感性曲线 / 一致性表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368"/>
                </a:solidFill>
                <a:latin typeface="Microsoft YaHei"/>
              </a:rPr>
              <a:t>新图脚本沿用 manifest+哈希纪律（generate_v5_figures.py）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5621"/>
                </a:solidFill>
                <a:latin typeface="Microsoft YaHei"/>
              </a:rPr>
              <a:t>04 ·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风险与诚实边界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① 深控重演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463040"/>
            <a:ext cx="8503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2303E"/>
                </a:solidFill>
                <a:latin typeface="Microsoft YaHei"/>
              </a:rPr>
              <a:t>元级搜索重蹈 Phase 7——防线 = 四条硬约束，及格线 = 一次浅搜，不合格即如实报告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359152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432304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② 真值语义漂移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432304"/>
            <a:ext cx="8503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2303E"/>
                </a:solidFill>
                <a:latin typeface="Microsoft YaHei"/>
              </a:rPr>
              <a:t>best-of-K 参考值 / 冻结集穷举值 / 在线估计三种口径并存，任何场合混用即过度声明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3328416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401568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③ 因果分析边界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401568"/>
            <a:ext cx="8503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2303E"/>
                </a:solidFill>
                <a:latin typeface="Microsoft YaHei"/>
              </a:rPr>
              <a:t>配对层上限 = 仿真保真度（CP-SAT 非确定需排除）；自然实验只覆盖随机策略可达分布；事件研究带选择偏差——三层范围不得互换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429768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370832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④ V0/V1 口径分离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370832"/>
            <a:ext cx="8503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2303E"/>
                </a:solidFill>
                <a:latin typeface="Microsoft YaHei"/>
              </a:rPr>
              <a:t>开放组合空间的收益必须与「自适应本身」的收益分离报告，禁止混表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5266944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5340096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⑤ baseline 公平性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5340096"/>
            <a:ext cx="8503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2303E"/>
                </a:solidFill>
                <a:latin typeface="Microsoft YaHei"/>
              </a:rPr>
              <a:t>LLM 对比阶段同环境、同动作空间、同预算，禁止给任何一方更宽松的条件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236208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A87D"/>
                </a:solidFill>
                <a:latin typeface="Microsoft YaHei"/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组合由搜索产生 · 切换显式计价 · 真值分层声明 · 质量与开销分开记账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A87D"/>
                </a:solidFill>
                <a:latin typeface="Microsoft YaHei"/>
              </a:rPr>
              <a:t>已交付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5120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C9D6E6"/>
                </a:solidFill>
                <a:latin typeface="Microsoft YaHei"/>
              </a:rPr>
              <a:t>· 反事实仿真基础设施（已独立确认）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9D6E6"/>
                </a:solidFill>
                <a:latin typeface="Microsoft YaHei"/>
              </a:rPr>
              <a:t>· 元级周期深控证伪（936 episodes）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9D6E6"/>
                </a:solidFill>
                <a:latin typeface="Microsoft YaHei"/>
              </a:rPr>
              <a:t>· Racing 评估器 + 真值性质（已实现）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9D6E6"/>
                </a:solidFill>
                <a:latin typeface="Microsoft YaHei"/>
              </a:rPr>
              <a:t>· 论文 v4 对齐新主线（16 页编译通过）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8346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A87D"/>
                </a:solidFill>
                <a:latin typeface="Microsoft YaHei"/>
              </a:rPr>
              <a:t>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291840"/>
            <a:ext cx="5120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C9D6E6"/>
                </a:solidFill>
                <a:latin typeface="Microsoft YaHei"/>
              </a:rPr>
              <a:t>· T0 保真门（半天）→ T4 golden trace 开跑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9D6E6"/>
                </a:solidFill>
                <a:latin typeface="Microsoft YaHei"/>
              </a:rPr>
              <a:t>· T1 契约表 → T2 V0 先行（先锁下限）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9D6E6"/>
                </a:solidFill>
                <a:latin typeface="Microsoft YaHei"/>
              </a:rPr>
              <a:t>· E2a 配对克隆反事实（因果章主力）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9D6E6"/>
                </a:solidFill>
                <a:latin typeface="Microsoft YaHei"/>
              </a:rPr>
              <a:t>· shadow 加 ε 随机化并记录概率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FA3BC"/>
                </a:solidFill>
                <a:latin typeface="Microsoft YaHei"/>
              </a:rPr>
              <a:t>SkyCausal · 阶段汇报 · 2026-08-26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