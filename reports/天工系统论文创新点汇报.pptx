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1645920"/>
            <a:ext cx="10332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天工系统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</a:rPr>
              <a:t>面向 FJSP-MAPF 联合调度的强化学习环境</a:t>
            </a:r>
            <a:br>
              <a:rPr>
                <a:solidFill>
                  <a:schemeClr val="accent1"/>
                </a:solidFill>
              </a:rPr>
            </a:br>
            <a:r>
              <a:rPr>
                <a:solidFill>
                  <a:schemeClr val="accent1"/>
                </a:solidFill>
              </a:rPr>
              <a:t>与多专家蒸馏学习框架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  <a:defRPr sz="26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</a:rPr>
              <a:t>论文创新点汇报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核心问题：FJSP 与 MAPF 的耦合损失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18288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两大独立模块，信息隔离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FJSP（柔性调度）：决策加工机器与工序顺序，仅优化加工时间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MAPF（路径规划）：决策 AGV 搬运路径，仅优化通行效率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搬运衔接环节无人统筹 → 严重耦合损失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1828800"/>
          </a:xfrm>
          <a:prstGeom prst="roundRect">
            <a:avLst/>
          </a:prstGeom>
          <a:solidFill>
            <a:srgbClr val="FCE8E6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5221F"/>
                </a:solidFill>
                <a:latin typeface="微软雅黑" panose="020B0503020204020204" charset="-122"/>
              </a:defRPr>
            </a:pPr>
            <a:r>
              <a:t>三类核心耦合损失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❶ 距离盲区：选最快机器但 AGV 远距离搬运，总工期反增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❷ 时序错位：送达时间与运输时序不匹配，机器空闲或物料堆积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❸ 拥堵聚集：多 AGV 抢占窄通道，引发阻塞卡顿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47120" cy="16459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F6368"/>
                </a:solidFill>
                <a:latin typeface="微软雅黑" panose="020B0503020204020204" charset="-122"/>
              </a:defRPr>
            </a:pPr>
            <a:r>
              <a:t>现有方案的共同局限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MAPF 被简化为运输时间矩阵，不模拟实际路径冲突、阻塞、绕行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耦合被视为单向约束（FJSP→MAPF），不建模路径结果对调度的反向影响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不存在统一环境将「调度产生路径需求 → 路径结果重塑调度机会」的闭环显式展开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论文故事线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现象（三类耦合损失）→ 分析（Assigner 是核心接口）→ 环境（SkyEngine 统一闭环）→ 方法（多专家蒸馏 + 多塔网络）→ 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三条创新点：环境 → 框架 → 网络，逐层递进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457200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创新点一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SkyEngine</a:t>
            </a:r>
            <a:br/>
            <a:r>
              <a:t>闭环统一 RL 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闭环共仿真：FJSP 调度与 MAPF 路由在共享时间线上增量推进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显式阻塞反馈：AGV 阻塞、绕行作为实际事件反向传播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可插拔 Assigner 模块：调度与路径之间的核心桥梁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17 项指标的评估体系</a:t>
            </a:r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41605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F636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4526280" y="1188720"/>
            <a:ext cx="3474720" cy="4572000"/>
          </a:xfrm>
          <a:prstGeom prst="roundRect">
            <a:avLst/>
          </a:prstGeom>
          <a:solidFill>
            <a:srgbClr val="E6F4EA"/>
          </a:solidFill>
          <a:ln w="31750">
            <a:solidFill>
              <a:srgbClr val="0D6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47091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52D"/>
                </a:solidFill>
                <a:latin typeface="微软雅黑" panose="020B0503020204020204" charset="-122"/>
              </a:defRPr>
            </a:pPr>
            <a:r>
              <a:t>创新点二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4709160" y="1645920"/>
            <a:ext cx="31089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 latinLnBrk="1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sz="2000"/>
              <a:t>多专家在线蒸馏</a:t>
            </a:r>
            <a:br>
              <a:rPr sz="2000"/>
            </a:br>
            <a:r>
              <a:rPr sz="2000"/>
              <a:t>Student-Induced 框架</a:t>
            </a:r>
            <a:endParaRPr sz="2000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475488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在 student 自己诱导出的状态上蒸馏，消除分布偏移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多专家可靠性动态评估，状态依赖权重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在线贝叶斯更新专家可靠性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蒸馏稳定性保障：小头部网络确保微调稳定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0467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F636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8412480" y="1188720"/>
            <a:ext cx="3474720" cy="4572000"/>
          </a:xfrm>
          <a:prstGeom prst="roundRect">
            <a:avLst/>
          </a:prstGeom>
          <a:solidFill>
            <a:srgbClr val="F3E8FD"/>
          </a:solidFill>
          <a:ln w="31750">
            <a:solidFill>
              <a:srgbClr val="681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85953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81DA8"/>
                </a:solidFill>
                <a:latin typeface="微软雅黑" panose="020B0503020204020204" charset="-122"/>
              </a:defRPr>
            </a:pPr>
            <a:r>
              <a:t>创新点三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859536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专家增强型</a:t>
            </a:r>
            <a:br/>
            <a:r>
              <a:t>多塔策略网络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864108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状态塔：AGV、机器、Job、搬运任务多维特征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专家塔：冻结预训练参数 + 轻量 Adapter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动态路由融合：w_k(s) 指导专家特征加权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从专家评估到专家融合的完整闭环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创新点一：SkyEngine — 首个面向 FJSP-MAPF 联合调度的闭环 RL 环境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1097280"/>
            <a:ext cx="3566160" cy="32004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6400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① 闭环共仿真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85800" y="160020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整合 FJSP 调度与 MAPF 路由，共享时间线同步推进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非「先调度完再执行路径」，而是增量决策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每个调度动作立即与当前 AGV 和机器状态交互</a:t>
            </a: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4389120" y="1097280"/>
            <a:ext cx="3566160" cy="32004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4572000" y="1188720"/>
            <a:ext cx="341757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② 显式阻塞反馈与状态建模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4617720" y="160020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AGV 阻塞、等待、绕行不被抽象为时间惩罚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作为实际事件抽取特征，反向传播影响调度选择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统一观测接口 + 17 项指标评估体系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8321040" y="1097280"/>
            <a:ext cx="3566160" cy="32004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85039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③ 可插拔 Assigner 模块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8549640" y="160020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调度与路径之间的核心桥梁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支持基于规则或学习的分配策略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获取路由任务，按规则分配给 AGV 执行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已实现规则性分配算法 + RL 算法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DF2F2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5221F"/>
                </a:solidFill>
                <a:latin typeface="微软雅黑" panose="020B0503020204020204" charset="-122"/>
              </a:defRPr>
            </a:pPr>
            <a:r>
              <a:t>与现有方案的本质区别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不是「改进 FJSP 或 MAPF 某一端」，而是在环境层面建模双向交互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Assigner 作为核心耦合接口，是学习的主要目标，填补「搬运衔接无人统筹」的空白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算法可插拔（任意 FJSP × MAPF 组合一键对比）、耦合可度量（17 项指标）、实验可复现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D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创新点二：基于 Student-Induced States 的多专家在线蒸馏框架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011680"/>
          </a:xfrm>
          <a:prstGeom prst="roundRect">
            <a:avLst/>
          </a:prstGeom>
          <a:solidFill>
            <a:srgbClr val="FCE8E6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5221F"/>
                </a:solidFill>
                <a:latin typeface="微软雅黑" panose="020B0503020204020204" charset="-122"/>
              </a:defRPr>
            </a:pPr>
            <a:r>
              <a:t>现有方法的两重失效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分布偏移：BC 在专家分布上训练，推理时进入新状态区域，误差 O(εT²) 累积放大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专家冲突：固定权重平均多专家信号，冲突时产生模糊策略，对所有专家都次优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011680"/>
          </a:xfrm>
          <a:prstGeom prst="roundRect">
            <a:avLst/>
          </a:prstGeom>
          <a:solidFill>
            <a:srgbClr val="E6F4EA"/>
          </a:solidFill>
          <a:ln w="25400">
            <a:solidFill>
              <a:srgbClr val="0D6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52D"/>
                </a:solidFill>
                <a:latin typeface="微软雅黑" panose="020B0503020204020204" charset="-122"/>
              </a:defRPr>
            </a:pPr>
            <a:r>
              <a:t>理论演进链条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BC（离线，分布偏移）</a:t>
            </a:r>
            <a:br/>
            <a:r>
              <a:t>  ↓</a:t>
            </a:r>
            <a:br/>
            <a:r>
              <a:t>DAgger（在线，单专家，假设 oracle 权威）</a:t>
            </a:r>
            <a:br/>
            <a:r>
              <a:t>  ↓</a:t>
            </a:r>
            <a:br/>
            <a:r>
              <a:t>OPD（在线，可质疑 teacher）</a:t>
            </a:r>
            <a:br/>
            <a:r>
              <a:t>  ↓</a:t>
            </a:r>
            <a:br/>
            <a:r>
              <a:t>多专家可靠性加权蒸馏（在线，多专家，动态评估）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2926080"/>
          </a:xfrm>
          <a:prstGeom prst="roundRect">
            <a:avLst/>
          </a:prstGeom>
          <a:solidFill>
            <a:srgbClr val="E6F4EA"/>
          </a:solidFill>
          <a:ln w="25400">
            <a:solidFill>
              <a:srgbClr val="0D6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52D"/>
                </a:solidFill>
                <a:latin typeface="微软雅黑" panose="020B0503020204020204" charset="-122"/>
              </a:defRPr>
            </a:pPr>
            <a:r>
              <a:t>五大核心创新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40"/>
            <a:ext cx="10789920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蒸馏发生在 student 自己诱导出的状态上（DAgger 式 rollout），从根本上消除分布偏移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多专家可靠性动态评估：同一状态下组织多个专家提供候选，通过组内相对比较判断可靠性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状态依赖蒸馏权重：w_k(s) = softmax(agreement_k(s) / τ)，不同状态信任不同专家</a:t>
            </a:r>
            <a:endParaRPr lang="zh-CN"/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endParaRPr lang="zh-CN"/>
          </a:p>
          <a:p>
            <a:pPr algn="l">
              <a:spcAft>
                <a:spcPts val="400"/>
              </a:spcAft>
              <a:buClrTx/>
              <a:buSzTx/>
              <a:buFontTx/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</a:t>
            </a:r>
            <a:r>
              <a:rPr lang="en-US"/>
              <a:t> </a:t>
            </a:r>
            <a:r>
              <a:t>在线推理的计算延迟</a:t>
            </a:r>
            <a:r>
              <a:rPr lang="zh-CN"/>
              <a:t>：</a:t>
            </a:r>
            <a:r>
              <a:rPr lang="zh-CN" altLang="en-US"/>
              <a:t>很多优秀的启发式规则或精确算法，在实时高频调度中耗时太长。</a:t>
            </a:r>
            <a:endParaRPr lang="zh-CN" altLang="en-US"/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② </a:t>
            </a:r>
            <a:r>
              <a:rPr lang="zh-CN" altLang="en-US">
                <a:sym typeface="+mn-ea"/>
              </a:rPr>
              <a:t>规则的“不可微”与“不可成长性”：规则是硬编码的。</a:t>
            </a:r>
            <a:endParaRPr lang="zh-CN" altLang="en-US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③</a:t>
            </a:r>
            <a:r>
              <a:rPr lang="zh-CN" altLang="en-US"/>
              <a:t>规则化代码通常处理的是确定性逻辑，而模型的价值恰恰在于处理模糊边界和未见场景。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0080" y="477075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2000" b="1">
                <a:solidFill>
                  <a:srgbClr val="0D652D"/>
                </a:solidFill>
                <a:latin typeface="微软雅黑" panose="020B0503020204020204" charset="-122"/>
              </a:defRPr>
            </a:pPr>
            <a:r>
              <a:rPr lang="zh-CN">
                <a:sym typeface="+mn-ea"/>
              </a:rPr>
              <a:t>蒸馏的必要性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681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创新点三：专家增强型多塔策略网络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371600"/>
          </a:xfrm>
          <a:prstGeom prst="roundRect">
            <a:avLst/>
          </a:prstGeom>
          <a:solidFill>
            <a:srgbClr val="F3E8FD"/>
          </a:solidFill>
          <a:ln w="25400">
            <a:solidFill>
              <a:srgbClr val="681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81DA8"/>
                </a:solidFill>
                <a:latin typeface="微软雅黑" panose="020B0503020204020204" charset="-122"/>
              </a:defRPr>
            </a:pPr>
            <a:r>
              <a:t>问题定位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已有专家模型积累了大量领域知识，但传统调度网络仅依赖原始状态特征，无法充分复用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直接微调面临灾难性遗忘风险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核心问题：如何在 student 自主决策过程中，动态识别并高效复用最相关的专家知识？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2891790"/>
          </a:xfrm>
          <a:prstGeom prst="roundRect">
            <a:avLst/>
          </a:prstGeom>
          <a:solidFill>
            <a:srgbClr val="F3E8FD"/>
          </a:solidFill>
          <a:ln w="25400">
            <a:solidFill>
              <a:srgbClr val="681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81DA8"/>
                </a:solidFill>
                <a:latin typeface="微软雅黑" panose="020B0503020204020204" charset="-122"/>
              </a:defRPr>
            </a:pPr>
            <a:r>
              <a:t>网络架构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状态塔：输入 AGV、机器、Job、搬运任务等多维状态特征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专家塔：冻结预训练参数 θ_k，仅接入轻量 Adapter A_k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提取专家内部隐表示 h'_k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动态路由融合：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h_expert = Σ_k w_k(s) · h'_k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w_k(s) 来自创新点二的蒸馏权重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最终拼接状态特征 + 专家特征 → 输出 Assignment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486400" cy="2011680"/>
          </a:xfrm>
          <a:prstGeom prst="roundRect">
            <a:avLst/>
          </a:prstGeom>
          <a:solidFill>
            <a:srgbClr val="F3E8FD"/>
          </a:solidFill>
          <a:ln w="25400">
            <a:solidFill>
              <a:srgbClr val="681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81DA8"/>
                </a:solidFill>
                <a:latin typeface="微软雅黑" panose="020B0503020204020204" charset="-122"/>
              </a:defRPr>
            </a:pPr>
            <a:r>
              <a:t>设计要点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461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专家参数冻结：预训练参数不参与微调，避免灾难性遗忘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轻量 Adapter：仅小规模可训练参数适配，保持稳定性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动态路由融合：权重随状态动态变化，不同场景激活不同专家组合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FDF2F2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5221F"/>
                </a:solidFill>
                <a:latin typeface="微软雅黑" panose="020B0503020204020204" charset="-122"/>
              </a:defRPr>
            </a:pPr>
            <a:r>
              <a:t>创新点二回答「当前应相信哪个专家」</a:t>
            </a:r>
            <a:br/>
            <a:r>
              <a:t>创新点三回答「如何把专家知识融入网络」</a:t>
            </a:r>
            <a:br/>
            <a:r>
              <a:t>w_k(s) 是两者的桥梁 → 评估-融合闭环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总结：三层递进的完整技术体系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46304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4EA6"/>
                </a:solidFill>
                <a:latin typeface="微软雅黑" panose="020B0503020204020204" charset="-122"/>
              </a:defRPr>
            </a:pPr>
            <a:r>
              <a:t>环境层 — SkyEngine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73152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首个 FJSP-MAPF 闭环统一 RL 环境</a:t>
            </a:r>
            <a:br/>
            <a:r>
              <a:t>闭环共仿真 | 显式阻塞反馈 | 可插拔 Assigner | 17 项评估指标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1247120" cy="1463040"/>
          </a:xfrm>
          <a:prstGeom prst="roundRect">
            <a:avLst/>
          </a:prstGeom>
          <a:solidFill>
            <a:srgbClr val="E6F4EA"/>
          </a:solidFill>
          <a:ln w="31750">
            <a:solidFill>
              <a:srgbClr val="0D6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3152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52D"/>
                </a:solidFill>
                <a:latin typeface="微软雅黑" panose="020B0503020204020204" charset="-122"/>
              </a:defRPr>
            </a:pPr>
            <a:r>
              <a:t>框架层 — 多专家在线蒸馏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Student-Induced 状态蒸馏 | 动态可靠性评估 | 在线贝叶斯更新 | 稳定性保障</a:t>
            </a:r>
            <a:br/>
            <a:r>
              <a:t>理论链：BC → DAgger → OPD → 多专家可靠性加权蒸馏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3E8FD"/>
          </a:solidFill>
          <a:ln w="31750">
            <a:solidFill>
              <a:srgbClr val="681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731520" y="4709160"/>
            <a:ext cx="371284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81DA8"/>
                </a:solidFill>
                <a:latin typeface="微软雅黑" panose="020B0503020204020204" charset="-122"/>
              </a:defRPr>
            </a:pPr>
            <a:r>
              <a:t>网络层 — 专家增强多塔策略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731520" y="5074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状态塔 + 专家塔并行 | 冻结参数 + 轻量 Adapter | 动态路由融合</a:t>
            </a:r>
            <a:br/>
            <a:r>
              <a:t>w_k(s) 桥接框架层与网络层，形成评估-融合闭环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微软雅黑" panose="020B0503020204020204" charset="-122"/>
              </a:defRPr>
            </a:pPr>
            <a:r>
              <a:t>没有 SkyEngine 就没有闭环信号  |  没有蒸馏框架就无法利用专家知识  |  没有多塔网络就无法高效转化知识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2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3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4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5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6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7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8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9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10.xml><?xml version="1.0" encoding="utf-8"?>
<p:tagLst xmlns:p="http://schemas.openxmlformats.org/presentationml/2006/main">
  <p:tag name="KSO_WM_DIAGRAM_VIRTUALLY_FRAME" val="{&quot;height&quot;:360,&quot;left&quot;:327.6,&quot;top&quot;:93.6,&quot;width&quot;:608.4}"/>
</p:tagLst>
</file>

<file path=ppt/tags/tag11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2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3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4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5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6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7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8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19.xml><?xml version="1.0" encoding="utf-8"?>
<p:tagLst xmlns:p="http://schemas.openxmlformats.org/presentationml/2006/main">
  <p:tag name="KSO_WM_DIAGRAM_VIRTUALLY_FRAME" val="{&quot;height&quot;:252,&quot;left&quot;:36,&quot;top&quot;:86.4,&quot;width&quot;:900}"/>
</p:tagLst>
</file>

<file path=ppt/tags/tag20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ags/tag21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ags/tag22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ags/tag23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ags/tag24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ags/tag25.xml><?xml version="1.0" encoding="utf-8"?>
<p:tagLst xmlns:p="http://schemas.openxmlformats.org/presentationml/2006/main">
  <p:tag name="KSO_WM_DIAGRAM_VIRTUALLY_FRAME" val="{&quot;height&quot;:367.2,&quot;left&quot;:57.6,&quot;top&quot;:97.2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2476</Words>
  <Application>WPS 演示</Application>
  <PresentationFormat>On-screen Show (4:3)</PresentationFormat>
  <Paragraphs>156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天际林海</cp:lastModifiedBy>
  <cp:revision>15</cp:revision>
  <dcterms:created xsi:type="dcterms:W3CDTF">2013-01-27T09:14:00Z</dcterms:created>
  <dcterms:modified xsi:type="dcterms:W3CDTF">2026-06-01T08:24:47Z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5FCC6F9CD929445FAE8FC8FF695179A1_12</vt:lpwstr>
  </property>
  <property fmtid="{D5CDD505-2E9C-101B-9397-08002B2CF9AE}" pid="3" name="KSOProductBuildVer">
    <vt:lpwstr>2052-12.1.0.26375</vt:lpwstr>
  </property>
</Properties>
</file>